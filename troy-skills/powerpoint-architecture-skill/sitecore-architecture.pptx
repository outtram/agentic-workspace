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78D4"/>
                </a:solidFill>
              </a:rPr>
              <a:t>Omni-Channel Digital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67676"/>
                </a:solidFill>
              </a:rPr>
              <a:t>Sitecore-Based Multi-Channel Ecosystem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24242"/>
                </a:solidFill>
              </a:rPr>
              <a:t>Architecture Overview
</a:t>
            </a:r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Enterprise-grade digital platform supporting web, mobile, and portal channels
</a:t>
            </a:r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Built on Sitecore CMS with microservices architecture and cloud infrastructure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</a:rPr>
              <a:t>December 2024 | Version 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8D4"/>
                </a:solidFill>
              </a:rPr>
              <a:t>High-Level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645920" cy="2286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CHANNEL LAYER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09344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Website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Sitecore XP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12264" y="1051560"/>
            <a:ext cx="1609344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12264" y="107899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iOS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12264" y="128016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Swift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67328" y="1051560"/>
            <a:ext cx="1609344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07899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Android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7328" y="128016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Kotlin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22392" y="1051560"/>
            <a:ext cx="1609344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107899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Member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22392" y="128016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React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77456" y="1051560"/>
            <a:ext cx="1609344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107899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Admin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77456" y="128016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React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160020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8D4"/>
                </a:solidFill>
              </a:rPr>
              <a:t>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1783080"/>
            <a:ext cx="1645920" cy="2286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057400"/>
            <a:ext cx="822960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API Gateway - Azure API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60604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8D4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2788920"/>
            <a:ext cx="1645920" cy="2286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SERVICES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1609344" cy="457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906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.NET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12264" y="3063240"/>
            <a:ext cx="1609344" cy="457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12264" y="30906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Member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12264" y="329184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.NET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67328" y="3063240"/>
            <a:ext cx="1609344" cy="457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30906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Content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67328" y="329184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.NET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22392" y="3063240"/>
            <a:ext cx="1609344" cy="457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2392" y="30906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Notify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22392" y="329184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.NET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77456" y="3063240"/>
            <a:ext cx="1609344" cy="457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77456" y="30906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Search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77456" y="329184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Azure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0" y="361188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8D4"/>
                </a:solidFill>
              </a:rPr>
              <a:t>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7200" y="3794760"/>
            <a:ext cx="1645920" cy="22860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069080"/>
            <a:ext cx="202311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096512"/>
            <a:ext cx="20231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Member DB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297680"/>
            <a:ext cx="202311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SQL Server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26030" y="4069080"/>
            <a:ext cx="202311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26030" y="4096512"/>
            <a:ext cx="20231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Content DB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526030" y="4297680"/>
            <a:ext cx="202311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SQL Server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94860" y="4069080"/>
            <a:ext cx="202311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4860" y="4096512"/>
            <a:ext cx="20231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Cache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94860" y="4297680"/>
            <a:ext cx="202311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Redis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63690" y="4069080"/>
            <a:ext cx="202311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3690" y="4096512"/>
            <a:ext cx="20231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Analytics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63690" y="4297680"/>
            <a:ext cx="202311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6"/>
                </a:solidFill>
              </a:rPr>
              <a:t>Cosmos DB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89204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Layer-based architecture | REST APIs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</a:rPr>
              <a:t>Sitecore CMS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24242"/>
                </a:solidFill>
              </a:rPr>
              <a:t>Sitecore Experience Platform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2240" cy="11887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68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Content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68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Sitecore CM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Multi-site management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Content authoring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Workflow &amp; approvals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30880" y="1554480"/>
            <a:ext cx="2682240" cy="11887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30880" y="1600200"/>
            <a:ext cx="268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Content Delivery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30880" y="1874520"/>
            <a:ext cx="268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Sitecore CD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30880" y="210312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High-performance delivery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CDN integration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Edge caching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04560" y="1554480"/>
            <a:ext cx="2682240" cy="11887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4560" y="1600200"/>
            <a:ext cx="268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Experience 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04560" y="1874520"/>
            <a:ext cx="268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xDB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04560" y="210312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Visitor profiles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Interaction tracking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Personalization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4242"/>
                </a:solidFill>
              </a:rPr>
              <a:t>Integration &amp; APIs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06908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Sitecore GraphQL API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Headless content delivery for mobile apps and SPAs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406908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3375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Sitecore JSS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JavaScript services for React/Next.js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</a:rPr>
              <a:t>Sitecore Experience Platform (XP) 10.x | Headless architecture via GraphQL &amp; JSS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</a:rPr>
              <a:t>Integration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4242"/>
                </a:solidFill>
              </a:rPr>
              <a:t>External System Integration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82240" cy="7315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5C2D9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268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CRM System
</a:t>
            </a:r>
            <a:pPr algn="ctr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Salesforce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Customer data sync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30880" y="1463040"/>
            <a:ext cx="2682240" cy="7315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5C2D9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30880" y="1508760"/>
            <a:ext cx="268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Payment Gateway
</a:t>
            </a:r>
            <a:pPr algn="ctr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Stripe / Adyen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Transaction processing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04560" y="1463040"/>
            <a:ext cx="2682240" cy="7315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5C2D9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004560" y="1508760"/>
            <a:ext cx="268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Analytics Platform
</a:t>
            </a:r>
            <a:pPr algn="ctr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Adobe Analytics
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Behavioral tracking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4242"/>
                </a:solidFill>
              </a:rPr>
              <a:t>Middleware &amp; Messaging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69080" cy="8229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3464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Azure Service Bus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Event-Driven Messaging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• Async event processing • Message queuing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788920"/>
            <a:ext cx="4069080" cy="8229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83464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Azure Logic Apps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Integration Workflows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• System connectors • Data transformation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4242"/>
                </a:solidFill>
              </a:rPr>
              <a:t>Security &amp; Monitoring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98882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0624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Azure 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37460" y="4114800"/>
            <a:ext cx="198882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7460" y="420624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Key Vault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4114800"/>
            <a:ext cx="198882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20624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App Insights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97980" y="4114800"/>
            <a:ext cx="198882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7980" y="420624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Log Analytics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</a:rPr>
              <a:t>Integration via REST APIs | Event-driven messaging with Azure Service Bus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</a:rPr>
              <a:t>Deployment &amp; Infrastructure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4242"/>
                </a:solidFill>
              </a:rPr>
              <a:t>Azure Cloud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462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8633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Azure Kubernetes Service (AKS)
</a:t>
            </a:r>
            <a:pPr algn="l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Container Orchestration
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Microservices hosting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Auto-scaling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40580" y="1463040"/>
            <a:ext cx="40462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2020" y="1508760"/>
            <a:ext cx="38633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Azure App Service
</a:t>
            </a:r>
            <a:pPr algn="l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PaaS Hosting
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Sitecore CM/CD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Portal applications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40462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38633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Azure SQL Database
</a:t>
            </a:r>
            <a:pPr algn="l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Managed Database
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Automated backups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High availability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40580" y="2560320"/>
            <a:ext cx="404622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2020" y="2606040"/>
            <a:ext cx="38633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Azure CDN
</a:t>
            </a:r>
            <a:pPr algn="l" indent="0" marL="0">
              <a:buNone/>
            </a:pPr>
            <a:r>
              <a:rPr lang="en-US" sz="1000" i="1" dirty="0">
                <a:solidFill>
                  <a:srgbClr val="767676"/>
                </a:solidFill>
              </a:rPr>
              <a:t>Content Delivery
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Global edge locations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• Static asset caching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4242"/>
                </a:solidFill>
              </a:rPr>
              <a:t>DevOps &amp; CI/CD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98882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Azure DevOps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37460" y="4023360"/>
            <a:ext cx="198882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7460" y="411480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4023360"/>
            <a:ext cx="198882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11480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Container Registry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97980" y="4023360"/>
            <a:ext cx="198882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7980" y="411480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Terraform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</a:rPr>
              <a:t>Azure cloud-native architecture | Multi-region deployment for high availability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Omni-Channel Sitecore Architecture</dc:title>
  <dc:subject>PptxGenJS Presentation</dc:subject>
  <dc:creator>Enterprise Architecture</dc:creator>
  <cp:lastModifiedBy>Enterprise Architecture</cp:lastModifiedBy>
  <cp:revision>1</cp:revision>
  <dcterms:created xsi:type="dcterms:W3CDTF">2025-12-02T03:34:24Z</dcterms:created>
  <dcterms:modified xsi:type="dcterms:W3CDTF">2025-12-02T03:34:24Z</dcterms:modified>
</cp:coreProperties>
</file>